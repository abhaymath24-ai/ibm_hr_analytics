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8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822960"/>
            <a:ext cx="2926080" cy="2926080"/>
          </a:xfrm>
          <a:prstGeom prst="ellipse">
            <a:avLst/>
          </a:prstGeom>
          <a:solidFill>
            <a:srgbClr val="1C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1463040"/>
            <a:ext cx="2103120" cy="2103120"/>
          </a:xfrm>
          <a:prstGeom prst="ellipse">
            <a:avLst/>
          </a:prstGeom>
          <a:solidFill>
            <a:srgbClr val="25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21240" y="2057400"/>
            <a:ext cx="914400" cy="914400"/>
          </a:xfrm>
          <a:prstGeom prst="ellipse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822960"/>
            <a:ext cx="82296" cy="960120"/>
          </a:xfrm>
          <a:prstGeom prst="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7498079" cy="146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Understanding
Employee Attrition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200400"/>
            <a:ext cx="6766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1BECF"/>
                </a:solidFill>
                <a:latin typeface="Aptos"/>
              </a:rPr>
              <a:t>IBM HR Analytics • From workforce signals to retention 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" y="4160520"/>
            <a:ext cx="5120640" cy="18288"/>
          </a:xfrm>
          <a:prstGeom prst="rect">
            <a:avLst/>
          </a:prstGeom>
          <a:solidFill>
            <a:srgbClr val="25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4434840"/>
            <a:ext cx="621792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Aptos"/>
              </a:rPr>
              <a:t>A data-driven view of attrition patterns, risk signals and practical interventions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BEAA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The business story in one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85800" cy="50292"/>
          </a:xfrm>
          <a:prstGeom prst="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1BECF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606040" cy="155448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1554480"/>
          </a:xfrm>
          <a:prstGeom prst="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83080"/>
            <a:ext cx="22402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4BEAA"/>
                </a:solidFill>
                <a:latin typeface="Aptos"/>
              </a:rPr>
              <a:t>16.1%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50008"/>
            <a:ext cx="22402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Overall attrition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715768"/>
            <a:ext cx="2240280" cy="3657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1BECF"/>
                </a:solidFill>
                <a:latin typeface="Aptos"/>
              </a:rPr>
              <a:t>Roughly 1 in 6 employees left.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00200"/>
            <a:ext cx="2606040" cy="155448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600200"/>
            <a:ext cx="64008" cy="1554480"/>
          </a:xfrm>
          <a:prstGeom prst="rect">
            <a:avLst/>
          </a:prstGeom>
          <a:solidFill>
            <a:srgbClr val="FF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1783080"/>
            <a:ext cx="22402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B55C"/>
                </a:solidFill>
                <a:latin typeface="Aptos"/>
              </a:rPr>
              <a:t>30.5%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350008"/>
            <a:ext cx="22402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Overtime attrition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715768"/>
            <a:ext cx="2240280" cy="3657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1BECF"/>
                </a:solidFill>
                <a:latin typeface="Aptos"/>
              </a:rPr>
              <a:t>Compared with 10.4% without overtime.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00200"/>
            <a:ext cx="2606040" cy="155448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64008" cy="1554480"/>
          </a:xfrm>
          <a:prstGeom prst="rect">
            <a:avLst/>
          </a:prstGeom>
          <a:solidFill>
            <a:srgbClr val="F47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1783080"/>
            <a:ext cx="22402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47477"/>
                </a:solidFill>
                <a:latin typeface="Aptos"/>
              </a:rPr>
              <a:t>39.8%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350008"/>
            <a:ext cx="22402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Highest role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715768"/>
            <a:ext cx="2240280" cy="3657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1BECF"/>
                </a:solidFill>
                <a:latin typeface="Aptos"/>
              </a:rPr>
              <a:t>Sales Representatives.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600200"/>
            <a:ext cx="2560320" cy="155448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40" y="1600200"/>
            <a:ext cx="64008" cy="1554480"/>
          </a:xfrm>
          <a:prstGeom prst="rect">
            <a:avLst/>
          </a:prstGeom>
          <a:solidFill>
            <a:srgbClr val="62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08008" y="1783080"/>
            <a:ext cx="21945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2D2DE"/>
                </a:solidFill>
                <a:latin typeface="Aptos"/>
              </a:rPr>
              <a:t>35.8%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350008"/>
            <a:ext cx="21945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Youngest cohort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2715768"/>
            <a:ext cx="2194560" cy="3657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1BECF"/>
                </a:solidFill>
                <a:latin typeface="Aptos"/>
              </a:rPr>
              <a:t>Attrition among ages 18–25.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566160"/>
            <a:ext cx="10972800" cy="196596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822191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BEAA"/>
                </a:solidFill>
                <a:latin typeface="Aptos"/>
              </a:rPr>
              <a:t>What this means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315968"/>
            <a:ext cx="658368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Aptos"/>
              </a:rPr>
              <a:t>Attrition is not evenly distributed. The clearest signals cluster around overtime, early-career employees, selected job roles and lower-income groups.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88620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1BECF"/>
                </a:solidFill>
                <a:latin typeface="Aptos"/>
              </a:rPr>
              <a:t>Business priority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279392"/>
            <a:ext cx="274320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Aptos"/>
              </a:rPr>
              <a:t>Target support where risk is concentrated—then measure whether retention improves.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BEAA"/>
                </a:solidFill>
                <a:latin typeface="Aptos"/>
              </a:rP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The question: where should HR act first?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85800" cy="50292"/>
          </a:xfrm>
          <a:prstGeom prst="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1BEC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286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BEAA"/>
                </a:solidFill>
                <a:latin typeface="Aptos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57200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8FAFC"/>
                </a:solidFill>
                <a:latin typeface="Aptos"/>
              </a:rPr>
              <a:t>Employee exits create replacement costs, disrupt team continuity and can weaken delivery capacity.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BEAA"/>
                </a:solidFill>
                <a:latin typeface="Aptos"/>
              </a:rPr>
              <a:t>ANALYTICS OBJECTIVES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2112264"/>
            <a:ext cx="292608" cy="292608"/>
          </a:xfrm>
          <a:prstGeom prst="ellipse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2125980"/>
            <a:ext cx="29260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1F36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57400"/>
            <a:ext cx="4389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Aptos"/>
              </a:rPr>
              <a:t>Map attrition patterns across workforce segments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2862072"/>
            <a:ext cx="292608" cy="292608"/>
          </a:xfrm>
          <a:prstGeom prst="ellipse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875788"/>
            <a:ext cx="29260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1F36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07208"/>
            <a:ext cx="4389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Aptos"/>
              </a:rPr>
              <a:t>Identify factors associated with higher attrition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3611879"/>
            <a:ext cx="292608" cy="292608"/>
          </a:xfrm>
          <a:prstGeom prst="ellipse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3625596"/>
            <a:ext cx="29260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1F36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557015"/>
            <a:ext cx="4389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Aptos"/>
              </a:rPr>
              <a:t>Evaluate predictive models as decision support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4361688"/>
            <a:ext cx="292608" cy="292608"/>
          </a:xfrm>
          <a:prstGeom prst="ellipse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4375404"/>
            <a:ext cx="29260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1F36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306824"/>
            <a:ext cx="4389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8FAFC"/>
                </a:solidFill>
                <a:latin typeface="Aptos"/>
              </a:rPr>
              <a:t>Translate findings into targeted retention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7316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FFB55C"/>
                </a:solidFill>
                <a:latin typeface="Aptos"/>
              </a:rPr>
              <a:t>Decision to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88052"/>
            <a:ext cx="987552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 dirty="0">
                <a:solidFill>
                  <a:srgbClr val="F8FAFC"/>
                </a:solidFill>
                <a:latin typeface="Aptos"/>
              </a:rPr>
              <a:t>Which employee groups warrant a closer look and what practical changes should be tested?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55664"/>
            <a:ext cx="80467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1BECF"/>
                </a:solidFill>
                <a:latin typeface="Aptos"/>
              </a:rPr>
              <a:t>IBM HR ATTRITION ANALYSIS  •  BUSINESS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1BEC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BEAA"/>
                </a:solidFill>
                <a:latin typeface="Aptos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A structured path from data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85800" cy="50292"/>
          </a:xfrm>
          <a:prstGeom prst="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1BECF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965960" cy="182880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148840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BEAA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517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090672"/>
            <a:ext cx="1645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1BECF"/>
                </a:solidFill>
                <a:latin typeface="Aptos"/>
              </a:rPr>
              <a:t>1,470 employees
35 columns</a:t>
            </a:r>
          </a:p>
        </p:txBody>
      </p:sp>
      <p:sp>
        <p:nvSpPr>
          <p:cNvPr id="10" name="Chevron 9"/>
          <p:cNvSpPr/>
          <p:nvPr/>
        </p:nvSpPr>
        <p:spPr>
          <a:xfrm>
            <a:off x="2670048" y="2606040"/>
            <a:ext cx="274320" cy="457200"/>
          </a:xfrm>
          <a:prstGeom prst="chevron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90088" y="1965960"/>
            <a:ext cx="1965960" cy="182880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54680" y="2148840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BEAA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517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090672"/>
            <a:ext cx="1645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1BECF"/>
                </a:solidFill>
                <a:latin typeface="Aptos"/>
              </a:rPr>
              <a:t>Check data quality
No nulls / duplicates reported</a:t>
            </a:r>
          </a:p>
        </p:txBody>
      </p:sp>
      <p:sp>
        <p:nvSpPr>
          <p:cNvPr id="15" name="Chevron 14"/>
          <p:cNvSpPr/>
          <p:nvPr/>
        </p:nvSpPr>
        <p:spPr>
          <a:xfrm>
            <a:off x="4974336" y="2606040"/>
            <a:ext cx="274320" cy="457200"/>
          </a:xfrm>
          <a:prstGeom prst="chevron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94376" y="1965960"/>
            <a:ext cx="1965960" cy="182880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58968" y="2148840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BEAA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26517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3090672"/>
            <a:ext cx="1645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1BECF"/>
                </a:solidFill>
                <a:latin typeface="Aptos"/>
              </a:rPr>
              <a:t>Python EDA
Segment comparisons</a:t>
            </a:r>
          </a:p>
        </p:txBody>
      </p:sp>
      <p:sp>
        <p:nvSpPr>
          <p:cNvPr id="20" name="Chevron 19"/>
          <p:cNvSpPr/>
          <p:nvPr/>
        </p:nvSpPr>
        <p:spPr>
          <a:xfrm>
            <a:off x="7278624" y="2606040"/>
            <a:ext cx="274320" cy="457200"/>
          </a:xfrm>
          <a:prstGeom prst="chevron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98664" y="1965960"/>
            <a:ext cx="1965960" cy="182880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63256" y="2148840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BEAA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3256" y="26517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3090672"/>
            <a:ext cx="1645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1BECF"/>
                </a:solidFill>
                <a:latin typeface="Aptos"/>
              </a:rPr>
              <a:t>PostgreSQL
Attrition-focused SQL</a:t>
            </a:r>
          </a:p>
        </p:txBody>
      </p:sp>
      <p:sp>
        <p:nvSpPr>
          <p:cNvPr id="25" name="Chevron 24"/>
          <p:cNvSpPr/>
          <p:nvPr/>
        </p:nvSpPr>
        <p:spPr>
          <a:xfrm>
            <a:off x="9582912" y="2606040"/>
            <a:ext cx="274320" cy="457200"/>
          </a:xfrm>
          <a:prstGeom prst="chevron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902952" y="1965960"/>
            <a:ext cx="1965960" cy="182880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67544" y="2148840"/>
            <a:ext cx="457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BEAA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67544" y="26517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67544" y="3090672"/>
            <a:ext cx="1645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1BECF"/>
                </a:solidFill>
                <a:latin typeface="Aptos"/>
              </a:rPr>
              <a:t>Logistic Regression
Decision Tree • Random Forest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BEAA"/>
                </a:solidFill>
                <a:latin typeface="Aptos"/>
              </a:rPr>
              <a:t>WORKFORCE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Attrition is concentrated—not uniform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85800" cy="50292"/>
          </a:xfrm>
          <a:prstGeom prst="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1BECF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280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1BECF"/>
                </a:solidFill>
                <a:latin typeface="Aptos"/>
              </a:rPr>
              <a:t>OVERALL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201168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4BEAA"/>
                </a:solidFill>
                <a:latin typeface="Aptos"/>
              </a:rPr>
              <a:t>16.1%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52928"/>
            <a:ext cx="23774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Aptos"/>
              </a:rPr>
              <a:t>Overall employee attrition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737360"/>
            <a:ext cx="22860" cy="3383280"/>
          </a:xfrm>
          <a:prstGeom prst="rect">
            <a:avLst/>
          </a:prstGeom>
          <a:solidFill>
            <a:srgbClr val="25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1691640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BEAA"/>
                </a:solidFill>
                <a:latin typeface="Aptos"/>
              </a:rPr>
              <a:t>SEGMENTS TO INVESTIGATE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084831"/>
            <a:ext cx="23317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Sales Representatives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93975"/>
            <a:ext cx="4251960" cy="182880"/>
          </a:xfrm>
          <a:prstGeom prst="roundRect">
            <a:avLst/>
          </a:prstGeom>
          <a:solidFill>
            <a:srgbClr val="25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72200" y="2093975"/>
            <a:ext cx="4029238" cy="182880"/>
          </a:xfrm>
          <a:prstGeom prst="roundRect">
            <a:avLst/>
          </a:prstGeom>
          <a:solidFill>
            <a:srgbClr val="F47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61320" y="2029967"/>
            <a:ext cx="7315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7477"/>
                </a:solidFill>
                <a:latin typeface="Aptos"/>
              </a:rPr>
              <a:t>39.8%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596896"/>
            <a:ext cx="23317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Laboratory Technicians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606039"/>
            <a:ext cx="4251960" cy="182880"/>
          </a:xfrm>
          <a:prstGeom prst="roundRect">
            <a:avLst/>
          </a:prstGeom>
          <a:solidFill>
            <a:srgbClr val="25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2606039"/>
            <a:ext cx="2419567" cy="182880"/>
          </a:xfrm>
          <a:prstGeom prst="roundRect">
            <a:avLst/>
          </a:prstGeom>
          <a:solidFill>
            <a:srgbClr val="FF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61320" y="2542032"/>
            <a:ext cx="7315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55C"/>
                </a:solidFill>
                <a:latin typeface="Aptos"/>
              </a:rPr>
              <a:t>23.9%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108960"/>
            <a:ext cx="23317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Human Resources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118103"/>
            <a:ext cx="4251960" cy="182880"/>
          </a:xfrm>
          <a:prstGeom prst="roundRect">
            <a:avLst/>
          </a:prstGeom>
          <a:solidFill>
            <a:srgbClr val="25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72200" y="3118103"/>
            <a:ext cx="2338578" cy="182880"/>
          </a:xfrm>
          <a:prstGeom prst="roundRect">
            <a:avLst/>
          </a:prstGeom>
          <a:solidFill>
            <a:srgbClr val="62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61320" y="3054096"/>
            <a:ext cx="7315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2D2DE"/>
                </a:solidFill>
                <a:latin typeface="Aptos"/>
              </a:rPr>
              <a:t>23.1%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621024"/>
            <a:ext cx="23317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Sales department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630168"/>
            <a:ext cx="4251960" cy="182880"/>
          </a:xfrm>
          <a:prstGeom prst="roundRect">
            <a:avLst/>
          </a:prstGeom>
          <a:solidFill>
            <a:srgbClr val="25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72200" y="3630168"/>
            <a:ext cx="2085485" cy="182880"/>
          </a:xfrm>
          <a:prstGeom prst="round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3566160"/>
            <a:ext cx="7315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4BEAA"/>
                </a:solidFill>
                <a:latin typeface="Aptos"/>
              </a:rPr>
              <a:t>20.6%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133087"/>
            <a:ext cx="23317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HR department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142231"/>
            <a:ext cx="4251960" cy="182880"/>
          </a:xfrm>
          <a:prstGeom prst="roundRect">
            <a:avLst/>
          </a:prstGeom>
          <a:solidFill>
            <a:srgbClr val="25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72200" y="4142231"/>
            <a:ext cx="1923505" cy="182880"/>
          </a:xfrm>
          <a:prstGeom prst="round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61320" y="4078224"/>
            <a:ext cx="7315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4BEAA"/>
                </a:solidFill>
                <a:latin typeface="Aptos"/>
              </a:rPr>
              <a:t>19.0%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645152"/>
            <a:ext cx="233172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R&amp;D department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654296"/>
            <a:ext cx="4251960" cy="182880"/>
          </a:xfrm>
          <a:prstGeom prst="roundRect">
            <a:avLst/>
          </a:prstGeom>
          <a:solidFill>
            <a:srgbClr val="25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172200" y="4654296"/>
            <a:ext cx="1397072" cy="182880"/>
          </a:xfrm>
          <a:prstGeom prst="round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61320" y="4590288"/>
            <a:ext cx="7315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4BEAA"/>
                </a:solidFill>
                <a:latin typeface="Aptos"/>
              </a:rPr>
              <a:t>13.8%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BEAA"/>
                </a:solidFill>
                <a:latin typeface="Aptos"/>
              </a:rPr>
              <a:t>KEY FINDING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Overtime is the clearest observed risk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85800" cy="50292"/>
          </a:xfrm>
          <a:prstGeom prst="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1BECF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BEAA"/>
                </a:solidFill>
                <a:latin typeface="Aptos"/>
              </a:rPr>
              <a:t>ATTRITION RATE BY OVERTIME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21031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B55C"/>
                </a:solidFill>
                <a:latin typeface="Aptos"/>
              </a:rPr>
              <a:t>30.5%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3154680"/>
            <a:ext cx="1554480" cy="1371600"/>
          </a:xfrm>
          <a:prstGeom prst="roundRect">
            <a:avLst/>
          </a:prstGeom>
          <a:solidFill>
            <a:srgbClr val="25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25880" y="3301637"/>
            <a:ext cx="1554480" cy="996042"/>
          </a:xfrm>
          <a:prstGeom prst="roundRect">
            <a:avLst/>
          </a:prstGeom>
          <a:solidFill>
            <a:srgbClr val="FF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4681728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Overtime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31720"/>
            <a:ext cx="21031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62D2DE"/>
                </a:solidFill>
                <a:latin typeface="Aptos"/>
              </a:rPr>
              <a:t>10.4%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3154680"/>
            <a:ext cx="1554480" cy="1371600"/>
          </a:xfrm>
          <a:prstGeom prst="roundRect">
            <a:avLst/>
          </a:prstGeom>
          <a:solidFill>
            <a:srgbClr val="25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931920" y="3958045"/>
            <a:ext cx="1554480" cy="339634"/>
          </a:xfrm>
          <a:prstGeom prst="roundRect">
            <a:avLst/>
          </a:prstGeom>
          <a:solidFill>
            <a:srgbClr val="62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0" y="4681728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No overtime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874519"/>
            <a:ext cx="4389120" cy="320040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2267712"/>
            <a:ext cx="33832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B55C"/>
                </a:solidFill>
                <a:latin typeface="Aptos"/>
              </a:rPr>
              <a:t>≈ 2.9×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108960"/>
            <a:ext cx="33832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higher attrition rate among employees working overtime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160520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BEAA"/>
                </a:solidFill>
                <a:latin typeface="Aptos"/>
              </a:rPr>
              <a:t>Management implication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480560"/>
            <a:ext cx="3291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1BECF"/>
                </a:solidFill>
                <a:latin typeface="Aptos"/>
              </a:rPr>
              <a:t>Review workload, staffing coverage, scheduling and recovery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BEAA"/>
                </a:solidFill>
                <a:latin typeface="Aptos"/>
              </a:rPr>
              <a:t>KEY FINDING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Early-career and lower-income groups merit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85800" cy="50292"/>
          </a:xfrm>
          <a:prstGeom prst="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1BECF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37560" cy="182880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4008" cy="1828800"/>
          </a:xfrm>
          <a:prstGeom prst="rect">
            <a:avLst/>
          </a:prstGeom>
          <a:solidFill>
            <a:srgbClr val="62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71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2D2DE"/>
                </a:solidFill>
                <a:latin typeface="Aptos"/>
              </a:rPr>
              <a:t>35.8%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78608"/>
            <a:ext cx="2971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Age 18–25 attrition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44368"/>
            <a:ext cx="29718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1BECF"/>
                </a:solidFill>
                <a:latin typeface="Aptos"/>
              </a:rPr>
              <a:t>Highest age-group signal in this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337560" cy="182880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64008" cy="1828800"/>
          </a:xfrm>
          <a:prstGeom prst="rect">
            <a:avLst/>
          </a:prstGeom>
          <a:solidFill>
            <a:srgbClr val="FF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2011680"/>
            <a:ext cx="2971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B55C"/>
                </a:solidFill>
                <a:latin typeface="Aptos"/>
              </a:rPr>
              <a:t>26.1%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578608"/>
            <a:ext cx="2971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Low-income attrition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944368"/>
            <a:ext cx="29718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1BECF"/>
                </a:solidFill>
                <a:latin typeface="Aptos"/>
              </a:rPr>
              <a:t>Compared with 11.6% for medium and 10.6% for high income.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28800"/>
            <a:ext cx="3246120" cy="182880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2560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BEAA"/>
                </a:solidFill>
                <a:latin typeface="Aptos"/>
              </a:rPr>
              <a:t>Questions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42032"/>
            <a:ext cx="256032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Aptos"/>
              </a:rPr>
              <a:t>• Career progression
• Pay fairness
• Manager support
• Role fit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BEAA"/>
                </a:solidFill>
                <a:latin typeface="Aptos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Turn the findings into a measurable retention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85800" cy="50292"/>
          </a:xfrm>
          <a:prstGeom prst="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5720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B1BECF"/>
                </a:solidFill>
                <a:latin typeface="Aptos"/>
              </a:rPr>
              <a:t>0</a:t>
            </a:r>
            <a:r>
              <a:rPr lang="en-US" sz="900" b="1" i="0" dirty="0">
                <a:solidFill>
                  <a:srgbClr val="B1BECF"/>
                </a:solidFill>
                <a:latin typeface="Aptos"/>
              </a:rPr>
              <a:t>8</a:t>
            </a:r>
            <a:endParaRPr sz="900" b="1" i="0" dirty="0">
              <a:solidFill>
                <a:srgbClr val="B1BEC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664208"/>
            <a:ext cx="10744200" cy="786384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65376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B55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01368"/>
            <a:ext cx="2331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Workload &amp; overtime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810512"/>
            <a:ext cx="59893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1BECF"/>
                </a:solidFill>
                <a:latin typeface="Aptos"/>
              </a:rPr>
              <a:t>Review overtime concentration, staffing gaps and workload distribution.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874520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55C"/>
                </a:solidFill>
                <a:latin typeface="Aptos"/>
              </a:rPr>
              <a:t>30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10744200" cy="786384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852928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2D2D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88920"/>
            <a:ext cx="2331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Early-career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798064"/>
            <a:ext cx="59893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1BECF"/>
                </a:solidFill>
                <a:latin typeface="Aptos"/>
              </a:rPr>
              <a:t>Introduce structured onboarding, mentoring and 30/60/90-day check-ins.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862072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2D2DE"/>
                </a:solidFill>
                <a:latin typeface="Aptos"/>
              </a:rPr>
              <a:t>60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39312"/>
            <a:ext cx="10744200" cy="786384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84048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BEAA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76472"/>
            <a:ext cx="2331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Role-specific listening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785616"/>
            <a:ext cx="59893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1BECF"/>
                </a:solidFill>
                <a:latin typeface="Aptos"/>
              </a:rPr>
              <a:t>Run stay interviews in roles with elevated attrition; analyze recurring themes.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849624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BEAA"/>
                </a:solidFill>
                <a:latin typeface="Aptos"/>
              </a:rPr>
              <a:t>60 days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26864"/>
            <a:ext cx="10744200" cy="786384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82803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DBA9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64024"/>
            <a:ext cx="2331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Compensation &amp;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773168"/>
            <a:ext cx="59893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1BECF"/>
                </a:solidFill>
                <a:latin typeface="Aptos"/>
              </a:rPr>
              <a:t>Review pay competitiveness, internal mobility and promotion clarity.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4837176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DBA9"/>
                </a:solidFill>
                <a:latin typeface="Aptos"/>
              </a:rPr>
              <a:t>90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9788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4BEAA"/>
                </a:solidFill>
                <a:latin typeface="Aptos"/>
              </a:rPr>
              <a:t>Measure monthly: overall attrition • overtime attrition • role-level attrition • 90-day retention • intervention uptake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943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BEAA"/>
                </a:solidFill>
                <a:latin typeface="Aptos"/>
              </a:rPr>
              <a:t>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Use analytics as decision support—not as a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85800" cy="50292"/>
          </a:xfrm>
          <a:prstGeom prst="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45720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B1BECF"/>
                </a:solidFill>
                <a:latin typeface="Aptos"/>
              </a:rPr>
              <a:t>09</a:t>
            </a:r>
            <a:endParaRPr sz="900" b="1" i="0" dirty="0">
              <a:solidFill>
                <a:srgbClr val="B1BECF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37560" cy="182880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4008" cy="1828800"/>
          </a:xfrm>
          <a:prstGeom prst="rect">
            <a:avLst/>
          </a:prstGeom>
          <a:solidFill>
            <a:srgbClr val="24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93392"/>
            <a:ext cx="2971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BEAA"/>
                </a:solidFill>
                <a:latin typeface="Aptos"/>
              </a:rPr>
              <a:t>Human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50592"/>
            <a:ext cx="2971800" cy="11155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Model scores should prompt a supportive conversation, never an automatic employment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37560" cy="182880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64008" cy="1828800"/>
          </a:xfrm>
          <a:prstGeom prst="rect">
            <a:avLst/>
          </a:prstGeom>
          <a:solidFill>
            <a:srgbClr val="FF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71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B55C"/>
                </a:solidFill>
                <a:latin typeface="Aptos"/>
              </a:rPr>
              <a:t>Model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50592"/>
            <a:ext cx="2971800" cy="11155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Logistic Regression recall is 61.7%, but precision is 34.5%; many flagged employees may stay.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246120" cy="182880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64008" cy="1828800"/>
          </a:xfrm>
          <a:prstGeom prst="rect">
            <a:avLst/>
          </a:prstGeom>
          <a:solidFill>
            <a:srgbClr val="62D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993392"/>
            <a:ext cx="28803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2D2DE"/>
                </a:solidFill>
                <a:latin typeface="Aptos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450592"/>
            <a:ext cx="2880360" cy="11155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Check class imbalance, threshold choice, calibration, fairness and performance on new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77240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BEAA"/>
                </a:solidFill>
                <a:latin typeface="Aptos"/>
              </a:rP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6949440" cy="2286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Retain people by
acting on signals,
then measuring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69080"/>
            <a:ext cx="713232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 dirty="0">
                <a:solidFill>
                  <a:srgbClr val="B1BECF"/>
                </a:solidFill>
                <a:latin typeface="Aptos"/>
              </a:rPr>
              <a:t>Start with workload and overtime. Strengthen early-career support. Listen to high-risk roles. Track outcomes monthly.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2926080" cy="3200400"/>
          </a:xfrm>
          <a:prstGeom prst="round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49640" y="1874519"/>
            <a:ext cx="22860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24BEAA"/>
                </a:solidFill>
                <a:latin typeface="Aptos"/>
              </a:rPr>
              <a:t>16.1%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65176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overall attrition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3154680"/>
            <a:ext cx="1645920" cy="36576"/>
          </a:xfrm>
          <a:prstGeom prst="rect">
            <a:avLst/>
          </a:prstGeom>
          <a:solidFill>
            <a:srgbClr val="253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3474720"/>
            <a:ext cx="22860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B1BECF"/>
                </a:solidFill>
                <a:latin typeface="Aptos"/>
              </a:rPr>
              <a:t>A baseline to improve—not just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BEAA"/>
                </a:solidFill>
                <a:latin typeface="Aptos"/>
              </a:rPr>
              <a:t>THANK YOU  • 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607</Words>
  <Application>Microsoft Office PowerPoint</Application>
  <PresentationFormat>Widescreen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HR Attrition Analysis — Business Analytics Final Project</dc:title>
  <dc:subject>Employee attrition patterns, predictive modeling, and retention recommendations</dc:subject>
  <dc:creator>Business Analytics Project</dc:creator>
  <cp:keywords>IBM HR Analytics, attrition, business analytics, Python, SQL, retention</cp:keywords>
  <dc:description>generated using python-pptx</dc:description>
  <cp:lastModifiedBy>abhay math</cp:lastModifiedBy>
  <cp:revision>4</cp:revision>
  <dcterms:created xsi:type="dcterms:W3CDTF">2013-01-27T09:14:16Z</dcterms:created>
  <dcterms:modified xsi:type="dcterms:W3CDTF">2026-10-16T10:36:55Z</dcterms:modified>
  <cp:category/>
</cp:coreProperties>
</file>